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Cambria Math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vXKQf9VQNKrPlBgav9vxqRpQc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CambriaMath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可以算動量以及動能，然後因為這裡的電子位能很小所以也可以近似用k去算總能量</a:t>
            </a:r>
            <a:r>
              <a:rPr lang="en-US"/>
              <a:t>&lt;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這裡把洪載明上課講的大K跟k’一起到G向量了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1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15259049" y="22542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subTitle"/>
          </p:nvPr>
        </p:nvSpPr>
        <p:spPr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3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24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15259049" y="22542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31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538CD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15259048" y="225424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rgbClr val="538CD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15259049" y="22542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3600" u="none" cap="none" strike="noStrik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3600" u="none" cap="none" strike="noStrik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3600" u="none" cap="none" strike="noStrik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3600" u="none" cap="none" strike="noStrik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3600" u="none" cap="none" strike="noStrik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3600" u="none" cap="none" strike="noStrik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3600" u="none" cap="none" strike="noStrik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3600" u="none" cap="none" strike="noStrik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3600" u="none" cap="none" strike="noStrik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s://perg.phys.ksu.edu/vqmorig/tutorials/online/prep/" TargetMode="External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4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34.png"/><Relationship Id="rId7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hyperlink" Target="https://www.oulu.fi/tf/montecarlo/lectures/mc_notes1.pdf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42.png"/><Relationship Id="rId6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hyperlink" Target="https://github.com/axgmz/Bloch_theorem_Notebook_2ADENS/blob/main/Bloch_Wannier.ipynb" TargetMode="External"/><Relationship Id="rId6" Type="http://schemas.openxmlformats.org/officeDocument/2006/relationships/hyperlink" Target="https://www.oulu.fi/tf/montecarlo/lectures/mc_notes1.pd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-33822" y="0"/>
            <a:ext cx="18361872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 rot="-10799989">
            <a:off x="1163587" y="1848695"/>
            <a:ext cx="16083681" cy="7190663"/>
          </a:xfrm>
          <a:custGeom>
            <a:rect b="b" l="l" r="r" t="t"/>
            <a:pathLst>
              <a:path extrusionOk="0" h="6433960" w="16093666">
                <a:moveTo>
                  <a:pt x="0" y="0"/>
                </a:moveTo>
                <a:lnTo>
                  <a:pt x="16093666" y="0"/>
                </a:lnTo>
                <a:lnTo>
                  <a:pt x="16093666" y="6433960"/>
                </a:lnTo>
                <a:lnTo>
                  <a:pt x="0" y="6433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531225" y="3258639"/>
            <a:ext cx="13348406" cy="338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52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632423"/>
                </a:solidFill>
                <a:latin typeface="Times"/>
                <a:ea typeface="Times"/>
                <a:cs typeface="Times"/>
                <a:sym typeface="Times"/>
              </a:rPr>
              <a:t>Bloch Theorem &amp;</a:t>
            </a:r>
            <a:endParaRPr b="1" i="0" sz="7200" u="none" cap="none" strike="noStrike">
              <a:solidFill>
                <a:srgbClr val="632423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852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632423"/>
                </a:solidFill>
                <a:latin typeface="Times"/>
                <a:ea typeface="Times"/>
                <a:cs typeface="Times"/>
                <a:sym typeface="Times"/>
              </a:rPr>
              <a:t>Visualization of Energy Band</a:t>
            </a:r>
            <a:endParaRPr b="1" i="0" sz="72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123353" y="7766753"/>
            <a:ext cx="101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Reporter: </a:t>
            </a:r>
            <a:r>
              <a:rPr b="1" lang="en-US" sz="3600"/>
              <a:t>Wei-Jun, Gao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971471">
            <a:off x="13230776" y="876299"/>
            <a:ext cx="4515920" cy="3380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20339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2767701" y="3002759"/>
            <a:ext cx="12752598" cy="1637948"/>
          </a:xfrm>
          <a:custGeom>
            <a:rect b="b" l="l" r="r" t="t"/>
            <a:pathLst>
              <a:path extrusionOk="0" h="1637948" w="12752598">
                <a:moveTo>
                  <a:pt x="0" y="0"/>
                </a:moveTo>
                <a:lnTo>
                  <a:pt x="12752598" y="0"/>
                </a:lnTo>
                <a:lnTo>
                  <a:pt x="12752598" y="1637949"/>
                </a:lnTo>
                <a:lnTo>
                  <a:pt x="0" y="1637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2767701" y="4991578"/>
            <a:ext cx="12752598" cy="1637948"/>
          </a:xfrm>
          <a:custGeom>
            <a:rect b="b" l="l" r="r" t="t"/>
            <a:pathLst>
              <a:path extrusionOk="0" h="1637948" w="12752598">
                <a:moveTo>
                  <a:pt x="0" y="0"/>
                </a:moveTo>
                <a:lnTo>
                  <a:pt x="12752598" y="0"/>
                </a:lnTo>
                <a:lnTo>
                  <a:pt x="12752598" y="1637948"/>
                </a:lnTo>
                <a:lnTo>
                  <a:pt x="0" y="1637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2767701" y="7171684"/>
            <a:ext cx="12752598" cy="1637948"/>
          </a:xfrm>
          <a:custGeom>
            <a:rect b="b" l="l" r="r" t="t"/>
            <a:pathLst>
              <a:path extrusionOk="0" h="1637948" w="12752598">
                <a:moveTo>
                  <a:pt x="0" y="0"/>
                </a:moveTo>
                <a:lnTo>
                  <a:pt x="12752598" y="0"/>
                </a:lnTo>
                <a:lnTo>
                  <a:pt x="12752598" y="1637949"/>
                </a:lnTo>
                <a:lnTo>
                  <a:pt x="0" y="1637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 txBox="1"/>
          <p:nvPr/>
        </p:nvSpPr>
        <p:spPr>
          <a:xfrm>
            <a:off x="3205005" y="3278034"/>
            <a:ext cx="11918666" cy="78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2767700" y="7446960"/>
            <a:ext cx="12766997" cy="78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 &amp; Conclusion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2479593" y="413965"/>
            <a:ext cx="13328814" cy="1406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Agenda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 rot="-792482">
            <a:off x="-643320" y="246282"/>
            <a:ext cx="3543572" cy="1185051"/>
          </a:xfrm>
          <a:custGeom>
            <a:rect b="b" l="l" r="r" t="t"/>
            <a:pathLst>
              <a:path extrusionOk="0" h="1185051" w="3543572">
                <a:moveTo>
                  <a:pt x="0" y="0"/>
                </a:moveTo>
                <a:lnTo>
                  <a:pt x="3543572" y="0"/>
                </a:lnTo>
                <a:lnTo>
                  <a:pt x="3543572" y="1185050"/>
                </a:lnTo>
                <a:lnTo>
                  <a:pt x="0" y="1185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3205005" y="5266851"/>
            <a:ext cx="11932346" cy="78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Monte Carlo Method &amp; Process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 rot="-792482">
            <a:off x="15165999" y="9174564"/>
            <a:ext cx="3322975" cy="1111278"/>
          </a:xfrm>
          <a:custGeom>
            <a:rect b="b" l="l" r="r" t="t"/>
            <a:pathLst>
              <a:path extrusionOk="0" h="1111278" w="3322975">
                <a:moveTo>
                  <a:pt x="0" y="0"/>
                </a:moveTo>
                <a:lnTo>
                  <a:pt x="3322975" y="0"/>
                </a:lnTo>
                <a:lnTo>
                  <a:pt x="3322975" y="1111279"/>
                </a:lnTo>
                <a:lnTo>
                  <a:pt x="0" y="1111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2768946" y="3381829"/>
            <a:ext cx="12958963" cy="2647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1: Introduction</a:t>
            </a:r>
            <a:endParaRPr/>
          </a:p>
          <a:p>
            <a:pPr indent="0" lvl="0" marL="0" marR="0" rtl="0" algn="ctr">
              <a:lnSpc>
                <a:spcPct val="162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Ideas &amp;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-466386" y="7601799"/>
            <a:ext cx="3140083" cy="3145803"/>
          </a:xfrm>
          <a:custGeom>
            <a:rect b="b" l="l" r="r" t="t"/>
            <a:pathLst>
              <a:path extrusionOk="0" h="3145803" w="3140083">
                <a:moveTo>
                  <a:pt x="0" y="0"/>
                </a:moveTo>
                <a:lnTo>
                  <a:pt x="3140083" y="0"/>
                </a:lnTo>
                <a:lnTo>
                  <a:pt x="3140083" y="3145803"/>
                </a:lnTo>
                <a:lnTo>
                  <a:pt x="0" y="3145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 rot="10800000">
            <a:off x="15614303" y="-460602"/>
            <a:ext cx="3140083" cy="3145803"/>
          </a:xfrm>
          <a:custGeom>
            <a:rect b="b" l="l" r="r" t="t"/>
            <a:pathLst>
              <a:path extrusionOk="0" h="3145803" w="3140083">
                <a:moveTo>
                  <a:pt x="0" y="0"/>
                </a:moveTo>
                <a:lnTo>
                  <a:pt x="3140083" y="0"/>
                </a:lnTo>
                <a:lnTo>
                  <a:pt x="3140083" y="3145803"/>
                </a:lnTo>
                <a:lnTo>
                  <a:pt x="0" y="3145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 rot="-792482">
            <a:off x="6515838" y="9144037"/>
            <a:ext cx="4253849" cy="1422583"/>
          </a:xfrm>
          <a:custGeom>
            <a:rect b="b" l="l" r="r" t="t"/>
            <a:pathLst>
              <a:path extrusionOk="0" h="1422583" w="4253849">
                <a:moveTo>
                  <a:pt x="0" y="0"/>
                </a:moveTo>
                <a:lnTo>
                  <a:pt x="4253849" y="0"/>
                </a:lnTo>
                <a:lnTo>
                  <a:pt x="4253849" y="1422583"/>
                </a:lnTo>
                <a:lnTo>
                  <a:pt x="0" y="1422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 rot="309640">
            <a:off x="6519015" y="-579908"/>
            <a:ext cx="4247495" cy="1420458"/>
          </a:xfrm>
          <a:custGeom>
            <a:rect b="b" l="l" r="r" t="t"/>
            <a:pathLst>
              <a:path extrusionOk="0" h="1420458" w="4247495">
                <a:moveTo>
                  <a:pt x="0" y="0"/>
                </a:moveTo>
                <a:lnTo>
                  <a:pt x="4247495" y="0"/>
                </a:lnTo>
                <a:lnTo>
                  <a:pt x="4247495" y="1420458"/>
                </a:lnTo>
                <a:lnTo>
                  <a:pt x="0" y="1420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"/>
          <p:cNvSpPr txBox="1"/>
          <p:nvPr>
            <p:ph idx="11" type="ftr"/>
          </p:nvPr>
        </p:nvSpPr>
        <p:spPr>
          <a:xfrm>
            <a:off x="190498" y="225570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113022122 高瑋均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grid of graph paper&#10;&#10;AI-generated content may be incorrect." id="131" name="Google Shape;13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957261" y="736960"/>
            <a:ext cx="16398674" cy="1229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Electron Double-Slit experiment</a:t>
            </a:r>
            <a:r>
              <a:rPr b="1" i="0" lang="en-US" sz="6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6400" u="none" cap="none" strike="noStrike">
                <a:solidFill>
                  <a:srgbClr val="000000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6400" u="none" cap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154647" y="9799319"/>
            <a:ext cx="5596563" cy="366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https://perg.phys.ksu.edu/vqmorig/tutorials/online/prep/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7121" y="2928944"/>
            <a:ext cx="10557155" cy="518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4656702" y="8524825"/>
            <a:ext cx="3858259" cy="487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chemeClr val="dk1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a few electrons</a:t>
            </a:r>
            <a:endParaRPr b="0" i="0" sz="1800" u="none" cap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8514963" y="8773298"/>
            <a:ext cx="1187929" cy="0"/>
          </a:xfrm>
          <a:prstGeom prst="straightConnector1">
            <a:avLst/>
          </a:prstGeom>
          <a:noFill/>
          <a:ln cap="flat" cmpd="sng" w="761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8" name="Google Shape;138;p4"/>
          <p:cNvSpPr txBox="1"/>
          <p:nvPr/>
        </p:nvSpPr>
        <p:spPr>
          <a:xfrm>
            <a:off x="9983921" y="8511598"/>
            <a:ext cx="431175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2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chemeClr val="dk1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a lot of electrons</a:t>
            </a:r>
            <a:endParaRPr b="0" i="0" sz="1800" u="none" cap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-45473" y="0"/>
            <a:ext cx="1842034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145" name="Google Shape;145;p5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 b="18091" l="31800" r="31873" t="19230"/>
          <a:stretch/>
        </p:blipFill>
        <p:spPr>
          <a:xfrm>
            <a:off x="1312596" y="3388550"/>
            <a:ext cx="4034117" cy="391546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1312596" y="7258091"/>
            <a:ext cx="4151715" cy="487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single atom</a:t>
            </a:r>
            <a:endParaRPr b="0" i="0" sz="3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957260" y="736959"/>
            <a:ext cx="16414873" cy="1229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How about lots of atoms?</a:t>
            </a:r>
            <a:endParaRPr b="1" i="0" sz="6400" u="none" cap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4">
            <a:alphaModFix/>
          </a:blip>
          <a:srcRect b="18091" l="31800" r="31873" t="19230"/>
          <a:stretch/>
        </p:blipFill>
        <p:spPr>
          <a:xfrm>
            <a:off x="6895481" y="3542508"/>
            <a:ext cx="3716870" cy="360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4">
            <a:alphaModFix/>
          </a:blip>
          <a:srcRect b="18091" l="31800" r="31873" t="19230"/>
          <a:stretch/>
        </p:blipFill>
        <p:spPr>
          <a:xfrm>
            <a:off x="9205442" y="3542508"/>
            <a:ext cx="3716870" cy="360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4">
            <a:alphaModFix/>
          </a:blip>
          <a:srcRect b="18091" l="31800" r="31873" t="19230"/>
          <a:stretch/>
        </p:blipFill>
        <p:spPr>
          <a:xfrm>
            <a:off x="13780065" y="3429000"/>
            <a:ext cx="3716869" cy="360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11249644" y="5143500"/>
            <a:ext cx="4250224" cy="48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......</a:t>
            </a:r>
            <a:endParaRPr b="1" i="0" sz="3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462872" y="4855882"/>
            <a:ext cx="1419411" cy="132602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0AECE"/>
          </a:solidFill>
          <a:ln cap="flat" cmpd="sng" w="25400">
            <a:solidFill>
              <a:srgbClr val="93B3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0346190" y="7258092"/>
            <a:ext cx="4251304" cy="48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lot of atom</a:t>
            </a:r>
            <a:endParaRPr/>
          </a:p>
        </p:txBody>
      </p:sp>
      <p:sp>
        <p:nvSpPr>
          <p:cNvPr id="155" name="Google Shape;155;p5"/>
          <p:cNvSpPr txBox="1"/>
          <p:nvPr>
            <p:ph idx="11" type="ftr"/>
          </p:nvPr>
        </p:nvSpPr>
        <p:spPr>
          <a:xfrm>
            <a:off x="15259048" y="225424"/>
            <a:ext cx="2895597" cy="365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113022122 高瑋均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-63469" y="0"/>
            <a:ext cx="18420339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162" name="Google Shape;162;p6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957259" y="736958"/>
            <a:ext cx="16421352" cy="1229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Bloch Theorem</a:t>
            </a:r>
            <a:endParaRPr b="1" i="0" sz="6400" u="none" cap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 rot="10799989">
            <a:off x="-1678916" y="1847849"/>
            <a:ext cx="13608416" cy="7600949"/>
          </a:xfrm>
          <a:custGeom>
            <a:rect b="b" l="l" r="r" t="t"/>
            <a:pathLst>
              <a:path extrusionOk="0" h="5556705" w="13899332">
                <a:moveTo>
                  <a:pt x="0" y="0"/>
                </a:moveTo>
                <a:lnTo>
                  <a:pt x="13899332" y="0"/>
                </a:lnTo>
                <a:lnTo>
                  <a:pt x="13899332" y="5556705"/>
                </a:lnTo>
                <a:lnTo>
                  <a:pt x="0" y="55567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6"/>
          <p:cNvSpPr txBox="1"/>
          <p:nvPr/>
        </p:nvSpPr>
        <p:spPr>
          <a:xfrm>
            <a:off x="821549" y="4007939"/>
            <a:ext cx="10518119" cy="62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080" lvl="0" marL="43808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Schrödinger’s Equation with </a:t>
            </a:r>
            <a:r>
              <a:rPr b="1" i="0" lang="en-US" sz="3200" u="none" cap="none" strike="noStrike">
                <a:solidFill>
                  <a:srgbClr val="538C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potential</a:t>
            </a:r>
            <a:r>
              <a:rPr b="1" i="0" lang="en-US" sz="3600" u="none" cap="none" strike="noStrike">
                <a:solidFill>
                  <a:srgbClr val="538C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energy</a:t>
            </a:r>
            <a:endParaRPr b="1" i="0" sz="3200" u="none" cap="none" strike="noStrike">
              <a:solidFill>
                <a:srgbClr val="538C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938462" y="4880809"/>
            <a:ext cx="9884513" cy="98725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9054881" y="6166177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821549" y="2925010"/>
            <a:ext cx="10130368" cy="62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080" lvl="0" marL="438080" marR="0" rtl="0" algn="l">
              <a:lnSpc>
                <a:spcPct val="154125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3200"/>
              <a:buFont typeface="Arial"/>
              <a:buChar char="–"/>
            </a:pPr>
            <a:r>
              <a:rPr b="1" i="0" lang="en-US" sz="3200" u="none" cap="none" strike="noStrike">
                <a:solidFill>
                  <a:srgbClr val="538C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Nearly Free Electron Model</a:t>
            </a:r>
            <a:endParaRPr b="1" i="0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821549" y="6028911"/>
            <a:ext cx="10148008" cy="62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078" lvl="0" marL="438078" marR="0" rtl="0" algn="l">
              <a:lnSpc>
                <a:spcPct val="154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Inverse Fourier transform</a:t>
            </a:r>
            <a:r>
              <a:rPr b="1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Bragg Diffraction</a:t>
            </a:r>
            <a:endParaRPr b="1" i="0" sz="3200">
              <a:solidFill>
                <a:srgbClr val="538C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275345" y="6895577"/>
            <a:ext cx="8364944" cy="62773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592" l="0" r="0" t="-582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71" name="Google Shape;17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20870" y="2463110"/>
            <a:ext cx="6038527" cy="249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20870" y="6211198"/>
            <a:ext cx="6038527" cy="249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 txBox="1"/>
          <p:nvPr/>
        </p:nvSpPr>
        <p:spPr>
          <a:xfrm>
            <a:off x="12960719" y="5127375"/>
            <a:ext cx="4163595" cy="487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Free Electron</a:t>
            </a:r>
            <a:endParaRPr b="0" i="0" sz="375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12960720" y="8975475"/>
            <a:ext cx="4165755" cy="487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Free Free Electron</a:t>
            </a:r>
            <a:endParaRPr b="0" i="0" sz="375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33537" y="7755645"/>
            <a:ext cx="2484461" cy="220432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4649041" y="8704125"/>
            <a:ext cx="4900186" cy="974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chemeClr val="accent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Substitute back to </a:t>
            </a:r>
            <a:endParaRPr b="0" i="0" sz="3750" u="none" cap="none" strike="noStrike">
              <a:solidFill>
                <a:schemeClr val="accent2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2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chemeClr val="accent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Schrödinger’s Eq!</a:t>
            </a:r>
            <a:endParaRPr b="0" i="0" sz="3750" u="none" cap="none" strike="noStrike">
              <a:solidFill>
                <a:srgbClr val="538CD5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 rot="4414444">
            <a:off x="5737504" y="7684045"/>
            <a:ext cx="988518" cy="73094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0AECE"/>
          </a:solidFill>
          <a:ln cap="flat" cmpd="sng" w="25400">
            <a:solidFill>
              <a:srgbClr val="93B3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442559" y="7678775"/>
            <a:ext cx="4625472" cy="846906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-45720" y="0"/>
            <a:ext cx="18420338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185" name="Google Shape;185;p7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957258" y="736957"/>
            <a:ext cx="16421351" cy="1229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Bloch Theorem</a:t>
            </a:r>
            <a:endParaRPr b="1" sz="6400" u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 rot="10799989">
            <a:off x="-414899" y="1809749"/>
            <a:ext cx="16878299" cy="7696199"/>
          </a:xfrm>
          <a:custGeom>
            <a:rect b="b" l="l" r="r" t="t"/>
            <a:pathLst>
              <a:path extrusionOk="0" h="5556705" w="13899332">
                <a:moveTo>
                  <a:pt x="0" y="0"/>
                </a:moveTo>
                <a:lnTo>
                  <a:pt x="13899332" y="0"/>
                </a:lnTo>
                <a:lnTo>
                  <a:pt x="13899332" y="5556705"/>
                </a:lnTo>
                <a:lnTo>
                  <a:pt x="0" y="55567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7"/>
          <p:cNvSpPr/>
          <p:nvPr/>
        </p:nvSpPr>
        <p:spPr>
          <a:xfrm>
            <a:off x="10864631" y="8166427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2631299" y="3115510"/>
            <a:ext cx="11068319" cy="62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080" lvl="0" marL="438080" marR="0" rtl="0" algn="l">
              <a:lnSpc>
                <a:spcPct val="154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Eigenvalues &amp; Solve the  Hamiltonian Matrix (By python)</a:t>
            </a:r>
            <a:endParaRPr b="1" i="0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887" y="4391024"/>
            <a:ext cx="12669202" cy="269557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 txBox="1"/>
          <p:nvPr/>
        </p:nvSpPr>
        <p:spPr>
          <a:xfrm>
            <a:off x="2966796" y="7679149"/>
            <a:ext cx="9820432" cy="48727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8750" l="0" r="0" t="-474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2768945" y="3381828"/>
            <a:ext cx="12979481" cy="26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2: Process</a:t>
            </a:r>
            <a:endParaRPr/>
          </a:p>
          <a:p>
            <a:pPr indent="0" lvl="0" marL="0" marR="0" rtl="0" algn="ctr">
              <a:lnSpc>
                <a:spcPct val="1627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Monte Carlo method &amp; Visualization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-466385" y="7601798"/>
            <a:ext cx="3140082" cy="3145802"/>
          </a:xfrm>
          <a:custGeom>
            <a:rect b="b" l="l" r="r" t="t"/>
            <a:pathLst>
              <a:path extrusionOk="0" h="3145803" w="3140083">
                <a:moveTo>
                  <a:pt x="0" y="0"/>
                </a:moveTo>
                <a:lnTo>
                  <a:pt x="3140083" y="0"/>
                </a:lnTo>
                <a:lnTo>
                  <a:pt x="3140083" y="3145803"/>
                </a:lnTo>
                <a:lnTo>
                  <a:pt x="0" y="3145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8"/>
          <p:cNvSpPr/>
          <p:nvPr/>
        </p:nvSpPr>
        <p:spPr>
          <a:xfrm rot="-10799989">
            <a:off x="15614302" y="-460602"/>
            <a:ext cx="3140082" cy="3145802"/>
          </a:xfrm>
          <a:custGeom>
            <a:rect b="b" l="l" r="r" t="t"/>
            <a:pathLst>
              <a:path extrusionOk="0" h="3145803" w="3140083">
                <a:moveTo>
                  <a:pt x="0" y="0"/>
                </a:moveTo>
                <a:lnTo>
                  <a:pt x="3140083" y="0"/>
                </a:lnTo>
                <a:lnTo>
                  <a:pt x="3140083" y="3145803"/>
                </a:lnTo>
                <a:lnTo>
                  <a:pt x="0" y="3145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8"/>
          <p:cNvSpPr/>
          <p:nvPr/>
        </p:nvSpPr>
        <p:spPr>
          <a:xfrm rot="-792469">
            <a:off x="6515838" y="9144036"/>
            <a:ext cx="4253848" cy="1422581"/>
          </a:xfrm>
          <a:custGeom>
            <a:rect b="b" l="l" r="r" t="t"/>
            <a:pathLst>
              <a:path extrusionOk="0" h="1422583" w="4253849">
                <a:moveTo>
                  <a:pt x="0" y="0"/>
                </a:moveTo>
                <a:lnTo>
                  <a:pt x="4253849" y="0"/>
                </a:lnTo>
                <a:lnTo>
                  <a:pt x="4253849" y="1422583"/>
                </a:lnTo>
                <a:lnTo>
                  <a:pt x="0" y="1422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8"/>
          <p:cNvSpPr/>
          <p:nvPr/>
        </p:nvSpPr>
        <p:spPr>
          <a:xfrm rot="309637">
            <a:off x="6519015" y="-579907"/>
            <a:ext cx="4247494" cy="1420457"/>
          </a:xfrm>
          <a:custGeom>
            <a:rect b="b" l="l" r="r" t="t"/>
            <a:pathLst>
              <a:path extrusionOk="0" h="1420458" w="4247495">
                <a:moveTo>
                  <a:pt x="0" y="0"/>
                </a:moveTo>
                <a:lnTo>
                  <a:pt x="4247495" y="0"/>
                </a:lnTo>
                <a:lnTo>
                  <a:pt x="4247495" y="1420458"/>
                </a:lnTo>
                <a:lnTo>
                  <a:pt x="0" y="1420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8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8"/>
          <p:cNvSpPr txBox="1"/>
          <p:nvPr>
            <p:ph idx="11" type="ftr"/>
          </p:nvPr>
        </p:nvSpPr>
        <p:spPr>
          <a:xfrm>
            <a:off x="190497" y="225569"/>
            <a:ext cx="2895597" cy="365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113022122 高瑋均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-121919" y="0"/>
            <a:ext cx="18420338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211" name="Google Shape;211;p9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957258" y="736957"/>
            <a:ext cx="16436111" cy="122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Python make it happen!</a:t>
            </a:r>
            <a:endParaRPr b="1" sz="6400" u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9"/>
          <p:cNvPicPr preferRelativeResize="0"/>
          <p:nvPr/>
        </p:nvPicPr>
        <p:blipFill rotWithShape="1">
          <a:blip r:embed="rId4">
            <a:alphaModFix/>
          </a:blip>
          <a:srcRect b="2962" l="3737" r="3304" t="3148"/>
          <a:stretch/>
        </p:blipFill>
        <p:spPr>
          <a:xfrm>
            <a:off x="416370" y="2198259"/>
            <a:ext cx="7931728" cy="767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 rot="-10399271">
            <a:off x="8761338" y="4366605"/>
            <a:ext cx="11132739" cy="4721530"/>
          </a:xfrm>
          <a:custGeom>
            <a:rect b="b" l="l" r="r" t="t"/>
            <a:pathLst>
              <a:path extrusionOk="0" h="5556705" w="13899332">
                <a:moveTo>
                  <a:pt x="0" y="0"/>
                </a:moveTo>
                <a:lnTo>
                  <a:pt x="13899332" y="0"/>
                </a:lnTo>
                <a:lnTo>
                  <a:pt x="13899332" y="5556705"/>
                </a:lnTo>
                <a:lnTo>
                  <a:pt x="0" y="55567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8835250" y="8963688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216" name="Google Shape;21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6397" y="5336732"/>
            <a:ext cx="8858248" cy="188473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 txBox="1"/>
          <p:nvPr/>
        </p:nvSpPr>
        <p:spPr>
          <a:xfrm>
            <a:off x="5281967" y="4133849"/>
            <a:ext cx="3301168" cy="487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4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accent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設定有幾個點</a:t>
            </a:r>
            <a:endParaRPr b="0" i="0" sz="3750" u="none" cap="none" strike="noStrike">
              <a:solidFill>
                <a:srgbClr val="538CD5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5129566" y="5791821"/>
            <a:ext cx="3336088" cy="487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4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accent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填入矩陣並且解它</a:t>
            </a:r>
            <a:endParaRPr b="0" i="0" sz="3750" u="none" cap="none" strike="noStrike">
              <a:solidFill>
                <a:srgbClr val="538CD5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5471550" y="8677938"/>
            <a:ext cx="2622105" cy="487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4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accent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解它：eigh</a:t>
            </a:r>
            <a:endParaRPr b="0" i="0" sz="3750" u="none" cap="none" strike="noStrike">
              <a:solidFill>
                <a:srgbClr val="538CD5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9"/>
          <p:cNvCxnSpPr/>
          <p:nvPr/>
        </p:nvCxnSpPr>
        <p:spPr>
          <a:xfrm flipH="1" rot="10800000">
            <a:off x="4747649" y="2647949"/>
            <a:ext cx="5924549" cy="28575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1" name="Google Shape;221;p9"/>
          <p:cNvSpPr txBox="1"/>
          <p:nvPr/>
        </p:nvSpPr>
        <p:spPr>
          <a:xfrm>
            <a:off x="10843649" y="2389451"/>
            <a:ext cx="6954449" cy="974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Arguments: </a:t>
            </a:r>
            <a:r>
              <a:rPr b="1" i="0" lang="en-US" sz="28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k, a, V0, N_waves</a:t>
            </a:r>
            <a:endParaRPr b="0" i="0" sz="2800" u="none" cap="none" strike="noStrike">
              <a:solidFill>
                <a:srgbClr val="538CD5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           動量、晶格常數、位能、矩陣大小</a:t>
            </a:r>
            <a:endParaRPr b="0" i="0" sz="2800" u="none" cap="none" strike="noStrike">
              <a:solidFill>
                <a:srgbClr val="538CD5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5402660" y="2388176"/>
            <a:ext cx="1047749" cy="49529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538CD5"/>
          </a:solidFill>
          <a:ln cap="flat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54017" y="7372433"/>
            <a:ext cx="3499164" cy="2611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-45472" y="0"/>
            <a:ext cx="18420339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230" name="Google Shape;230;p10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957259" y="736958"/>
            <a:ext cx="16421352" cy="1229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Monte Carlo Method</a:t>
            </a:r>
            <a:endParaRPr b="1" sz="6400" u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58" y="2631147"/>
            <a:ext cx="8534525" cy="6099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6316" y="3505199"/>
            <a:ext cx="8420682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240" name="Google Shape;240;p11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1" name="Google Shape;24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167" y="2695574"/>
            <a:ext cx="9523979" cy="510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82173" y="2119312"/>
            <a:ext cx="8277224" cy="617630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 txBox="1"/>
          <p:nvPr/>
        </p:nvSpPr>
        <p:spPr>
          <a:xfrm>
            <a:off x="10633537" y="1233154"/>
            <a:ext cx="657449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Huge V0: Huge energy gap</a:t>
            </a:r>
            <a:endParaRPr b="0" i="0" sz="375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-45471" y="0"/>
            <a:ext cx="18420338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250" name="Google Shape;250;p12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957258" y="736957"/>
            <a:ext cx="16433591" cy="122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chemeClr val="dk1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Some potential errors</a:t>
            </a:r>
            <a:endParaRPr b="1" sz="6400" u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1312595" y="2541089"/>
            <a:ext cx="14084723" cy="125359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146" l="-1644" r="0" t="-43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53" name="Google Shape;25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4694" y="4500519"/>
            <a:ext cx="5958448" cy="451139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2"/>
          <p:cNvSpPr txBox="1"/>
          <p:nvPr/>
        </p:nvSpPr>
        <p:spPr>
          <a:xfrm>
            <a:off x="10596009" y="9076686"/>
            <a:ext cx="5755820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https://www.oulu.fi/tf/montecarlo/lectures/mc_notes1.pdf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>
            <a:off x="-45471" y="0"/>
            <a:ext cx="18420338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261" name="Google Shape;261;p13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957258" y="736957"/>
            <a:ext cx="16430351" cy="122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Monte Carlo Method in Energy Band</a:t>
            </a:r>
            <a:endParaRPr b="1" sz="6400" u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1147762" y="2478499"/>
            <a:ext cx="13211573" cy="487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Furthermore, graph the energy band by Monte Carlo method!</a:t>
            </a:r>
            <a:endParaRPr b="0" i="0" sz="3750" u="none" cap="none" strike="noStrike">
              <a:solidFill>
                <a:schemeClr val="accent2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4310" y="3533774"/>
            <a:ext cx="5548460" cy="462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312" y="3543300"/>
            <a:ext cx="5548460" cy="462914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 txBox="1"/>
          <p:nvPr/>
        </p:nvSpPr>
        <p:spPr>
          <a:xfrm>
            <a:off x="1285404" y="8384924"/>
            <a:ext cx="4168275" cy="487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N = 10</a:t>
            </a:r>
            <a:endParaRPr b="0" i="0" sz="375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7183862" y="8384924"/>
            <a:ext cx="4169355" cy="487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N = 1000</a:t>
            </a:r>
            <a:endParaRPr/>
          </a:p>
        </p:txBody>
      </p:sp>
      <p:pic>
        <p:nvPicPr>
          <p:cNvPr id="268" name="Google Shape;26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05749" y="3531044"/>
            <a:ext cx="5551732" cy="463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 txBox="1"/>
          <p:nvPr/>
        </p:nvSpPr>
        <p:spPr>
          <a:xfrm>
            <a:off x="13174191" y="8384924"/>
            <a:ext cx="4170074" cy="487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N = 10000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2768945" y="3381828"/>
            <a:ext cx="12969762" cy="26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3: Summary</a:t>
            </a:r>
            <a:endParaRPr/>
          </a:p>
          <a:p>
            <a:pPr indent="0" lvl="0" marL="0" marR="0" rtl="0" algn="ctr">
              <a:lnSpc>
                <a:spcPct val="1627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&amp; Conclusion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-466385" y="7601798"/>
            <a:ext cx="3140082" cy="3145802"/>
          </a:xfrm>
          <a:custGeom>
            <a:rect b="b" l="l" r="r" t="t"/>
            <a:pathLst>
              <a:path extrusionOk="0" h="3145803" w="3140083">
                <a:moveTo>
                  <a:pt x="0" y="0"/>
                </a:moveTo>
                <a:lnTo>
                  <a:pt x="3140083" y="0"/>
                </a:lnTo>
                <a:lnTo>
                  <a:pt x="3140083" y="3145803"/>
                </a:lnTo>
                <a:lnTo>
                  <a:pt x="0" y="3145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4"/>
          <p:cNvSpPr/>
          <p:nvPr/>
        </p:nvSpPr>
        <p:spPr>
          <a:xfrm rot="-10799989">
            <a:off x="15614302" y="-460602"/>
            <a:ext cx="3140082" cy="3145802"/>
          </a:xfrm>
          <a:custGeom>
            <a:rect b="b" l="l" r="r" t="t"/>
            <a:pathLst>
              <a:path extrusionOk="0" h="3145803" w="3140083">
                <a:moveTo>
                  <a:pt x="0" y="0"/>
                </a:moveTo>
                <a:lnTo>
                  <a:pt x="3140083" y="0"/>
                </a:lnTo>
                <a:lnTo>
                  <a:pt x="3140083" y="3145803"/>
                </a:lnTo>
                <a:lnTo>
                  <a:pt x="0" y="3145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14"/>
          <p:cNvSpPr/>
          <p:nvPr/>
        </p:nvSpPr>
        <p:spPr>
          <a:xfrm rot="-792469">
            <a:off x="6515838" y="9144036"/>
            <a:ext cx="4253848" cy="1422581"/>
          </a:xfrm>
          <a:custGeom>
            <a:rect b="b" l="l" r="r" t="t"/>
            <a:pathLst>
              <a:path extrusionOk="0" h="1422583" w="4253849">
                <a:moveTo>
                  <a:pt x="0" y="0"/>
                </a:moveTo>
                <a:lnTo>
                  <a:pt x="4253849" y="0"/>
                </a:lnTo>
                <a:lnTo>
                  <a:pt x="4253849" y="1422583"/>
                </a:lnTo>
                <a:lnTo>
                  <a:pt x="0" y="1422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4"/>
          <p:cNvSpPr/>
          <p:nvPr/>
        </p:nvSpPr>
        <p:spPr>
          <a:xfrm rot="309637">
            <a:off x="6519015" y="-579907"/>
            <a:ext cx="4247494" cy="1420457"/>
          </a:xfrm>
          <a:custGeom>
            <a:rect b="b" l="l" r="r" t="t"/>
            <a:pathLst>
              <a:path extrusionOk="0" h="1420458" w="4247495">
                <a:moveTo>
                  <a:pt x="0" y="0"/>
                </a:moveTo>
                <a:lnTo>
                  <a:pt x="4247495" y="0"/>
                </a:lnTo>
                <a:lnTo>
                  <a:pt x="4247495" y="1420458"/>
                </a:lnTo>
                <a:lnTo>
                  <a:pt x="0" y="1420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4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14"/>
          <p:cNvSpPr txBox="1"/>
          <p:nvPr>
            <p:ph idx="11" type="ftr"/>
          </p:nvPr>
        </p:nvSpPr>
        <p:spPr>
          <a:xfrm>
            <a:off x="190497" y="225569"/>
            <a:ext cx="2895597" cy="365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113022122 高瑋均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/>
          <p:nvPr/>
        </p:nvSpPr>
        <p:spPr>
          <a:xfrm>
            <a:off x="-28555" y="-41275"/>
            <a:ext cx="18420338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957258" y="736957"/>
            <a:ext cx="16448710" cy="122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chemeClr val="dk1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Errors Analysis - Convegence of Monte Carlo</a:t>
            </a:r>
            <a:endParaRPr b="1" sz="6400" u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12461274" y="9220320"/>
            <a:ext cx="4176195" cy="48727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8228" l="0" r="0" t="-4177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8871" y="2889348"/>
            <a:ext cx="7086040" cy="6330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6523" y="2889348"/>
            <a:ext cx="7543237" cy="6028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/>
          <p:nvPr/>
        </p:nvSpPr>
        <p:spPr>
          <a:xfrm>
            <a:off x="-45471" y="0"/>
            <a:ext cx="18420338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300" name="Google Shape;300;p16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957258" y="736957"/>
            <a:ext cx="16454469" cy="122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chemeClr val="dk1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Errors Analysis - </a:t>
            </a:r>
            <a:r>
              <a:rPr b="1" i="0" lang="en-US" sz="6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Truncation Error</a:t>
            </a:r>
            <a:endParaRPr b="1" sz="6400" u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43784" y="2807897"/>
            <a:ext cx="7438462" cy="586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984" y="3038985"/>
            <a:ext cx="8235996" cy="54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/>
          <p:nvPr/>
        </p:nvSpPr>
        <p:spPr>
          <a:xfrm>
            <a:off x="-45471" y="0"/>
            <a:ext cx="18420338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310" name="Google Shape;310;p17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957258" y="736957"/>
            <a:ext cx="16460228" cy="122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chemeClr val="dk1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Conclusion</a:t>
            </a:r>
            <a:endParaRPr b="1" sz="6400" u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7"/>
          <p:cNvPicPr preferRelativeResize="0"/>
          <p:nvPr/>
        </p:nvPicPr>
        <p:blipFill rotWithShape="1">
          <a:blip r:embed="rId4">
            <a:alphaModFix/>
          </a:blip>
          <a:srcRect b="19180" l="5215" r="5016" t="16146"/>
          <a:stretch/>
        </p:blipFill>
        <p:spPr>
          <a:xfrm>
            <a:off x="481523" y="2438399"/>
            <a:ext cx="8858249" cy="638174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 txBox="1"/>
          <p:nvPr/>
        </p:nvSpPr>
        <p:spPr>
          <a:xfrm>
            <a:off x="9711363" y="2580025"/>
            <a:ext cx="8452434" cy="626526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8" l="-2740" r="-2091" t="-11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B3D7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/>
          <p:nvPr/>
        </p:nvSpPr>
        <p:spPr>
          <a:xfrm>
            <a:off x="-45471" y="0"/>
            <a:ext cx="18420338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320" name="Google Shape;320;p18"/>
          <p:cNvSpPr/>
          <p:nvPr/>
        </p:nvSpPr>
        <p:spPr>
          <a:xfrm>
            <a:off x="-559237" y="2257277"/>
            <a:ext cx="19863675" cy="2551297"/>
          </a:xfrm>
          <a:custGeom>
            <a:rect b="b" l="l" r="r" t="t"/>
            <a:pathLst>
              <a:path extrusionOk="0" h="2551298" w="19863676">
                <a:moveTo>
                  <a:pt x="0" y="0"/>
                </a:moveTo>
                <a:lnTo>
                  <a:pt x="19863676" y="0"/>
                </a:lnTo>
                <a:lnTo>
                  <a:pt x="19863676" y="2551298"/>
                </a:lnTo>
                <a:lnTo>
                  <a:pt x="0" y="2551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18"/>
          <p:cNvSpPr/>
          <p:nvPr/>
        </p:nvSpPr>
        <p:spPr>
          <a:xfrm>
            <a:off x="-425887" y="4291523"/>
            <a:ext cx="19863675" cy="2551297"/>
          </a:xfrm>
          <a:custGeom>
            <a:rect b="b" l="l" r="r" t="t"/>
            <a:pathLst>
              <a:path extrusionOk="0" h="2551298" w="19863676">
                <a:moveTo>
                  <a:pt x="0" y="0"/>
                </a:moveTo>
                <a:lnTo>
                  <a:pt x="19863676" y="0"/>
                </a:lnTo>
                <a:lnTo>
                  <a:pt x="19863676" y="2551298"/>
                </a:lnTo>
                <a:lnTo>
                  <a:pt x="0" y="2551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1911867" y="2688408"/>
            <a:ext cx="14228820" cy="500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080" lvl="0" marL="438080" marR="0" rtl="0" algn="l">
              <a:lnSpc>
                <a:spcPct val="2464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Gomez, "Bloch_theorem_Notebook_2ADENS/Bloch_Wannier.ipynb at main · axgmz/Bloch_theorem_Notebook_2ADENS" (2022). </a:t>
            </a:r>
            <a:endParaRPr/>
          </a:p>
          <a:p>
            <a:pPr indent="0" lvl="0" marL="0" marR="0" rtl="0" algn="l">
              <a:lnSpc>
                <a:spcPct val="246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i="0" lang="en-US" sz="2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https://github.com/axgmz/Bloch_theorem_Notebook_2ADENS/blob/main/Bloch_Wannier.ipynb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4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Rummukainen, “Monte Carlo simulations in physics”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273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       https://www.oulu.fi/tf/montecarlo/lectures/mc_notes1.pdf</a:t>
            </a:r>
            <a:endParaRPr b="1" i="0" sz="20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73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73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/>
          </a:p>
          <a:p>
            <a:pPr indent="0" lvl="0" marL="0" marR="0" rtl="0" algn="l">
              <a:lnSpc>
                <a:spcPct val="246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957258" y="736957"/>
            <a:ext cx="16427111" cy="122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highlight>
                  <a:srgbClr val="D3D3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Main References</a:t>
            </a:r>
            <a:endParaRPr b="1" sz="6400" u="none" strike="noStrike">
              <a:solidFill>
                <a:schemeClr val="dk1"/>
              </a:solidFill>
              <a:highlight>
                <a:srgbClr val="D3D3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331" name="Google Shape;331;p19"/>
          <p:cNvSpPr txBox="1"/>
          <p:nvPr/>
        </p:nvSpPr>
        <p:spPr>
          <a:xfrm>
            <a:off x="3449560" y="2535643"/>
            <a:ext cx="11388879" cy="4787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 txBox="1"/>
          <p:nvPr>
            <p:ph idx="12" type="sldNum"/>
          </p:nvPr>
        </p:nvSpPr>
        <p:spPr>
          <a:xfrm>
            <a:off x="15925799" y="96900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19"/>
          <p:cNvSpPr txBox="1"/>
          <p:nvPr>
            <p:ph idx="11" type="ftr"/>
          </p:nvPr>
        </p:nvSpPr>
        <p:spPr>
          <a:xfrm>
            <a:off x="15259049" y="225425"/>
            <a:ext cx="2895598" cy="365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113022122 高瑋均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